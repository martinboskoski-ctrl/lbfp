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ОБУКА ЗА СПРЕЧУВАЊЕ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 КОРУПЦИЈА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 за набавки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Интерна обука | Времетраење: 60 минути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АГЕНДА НА ОБУКАТА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5303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мин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Вовед: Што е корупција?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09728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Дефиниции, форми и зошто е важно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53035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19072"/>
            <a:ext cx="54864" cy="5303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1907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мин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71907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Видови корупција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71907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Поткуп, изнуда, проневера, конфликт на интереси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40864"/>
            <a:ext cx="54864" cy="5303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086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мин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34086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Ризици во набавките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234086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Реални примери и ситуации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53035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62656"/>
            <a:ext cx="54864" cy="5303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6265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мин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296265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Законска рамка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96265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Македонски закони и меѓународни стандарди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84448"/>
            <a:ext cx="54864" cy="5303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8444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мин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358444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Интерни политики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358444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Нашите процедури и правила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53035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206240"/>
            <a:ext cx="54864" cy="5303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062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42062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Пријавување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420624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 и каде да пријавите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ШТО Е КОРУПЦИЈА?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2D6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280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Дефиниција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Корупцијата е злоупотреба на доверената моќ или позиција за стекнување лична корист — финансиска или друга.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International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Основни форми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82880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Поткуп (мито)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Изнуда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Проневера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 на интереси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Фаворизирање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Перење пари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ЗОШТО МОРА ДА СЕ СПРЕЧИ?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Законски последици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Казни до 10 години затвор и парични глоби според КЗ на РСМ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Штета за компанијата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1691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Губење на лиценци, деловни партнери и репутација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Штета за вработените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3520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Губење на работно место, кривична одговорност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Надворешен ревизорски ризик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3520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Негативен извештај, губење на сертификати и стандарди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ПОТКУП (МИТО)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Поткуп е нудење, давање, барање или примање на нешто од вредност со цел да се влијае на деловна одлука.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37360"/>
            <a:ext cx="54864" cy="13716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Реална ситуација во набавки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21945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Добавувач на амбалажа ви нуди 500 EUR во готовина за да го изберете неговата понуда наместо поевтината. Или, добавувач на суровини ви плаќа „провизија“ од 3% за секоја нарачка.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Што сё може да биде поткуп?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Готовина или парични трансфери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Скапи подароци (електроника, накит, патувања)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 (бесплатни ремонти, вработување на роднини)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Угостителски понуди над вообичаено (вечери, патувања)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ИЗНУДА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Изнуда е кога некое лице користи закани, притисок или моќ за да принуди друго лице да даде пари, услуга или друга корист.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37360"/>
            <a:ext cx="54864" cy="13716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Ситуација во набавки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21945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Вработен во набавки му кажува на добавувач: „Ако не ми дадеш попуст од 10% за мене лично, ќе го раскинам договорот.“ Или инспектор бара „надомест“ за да не пријави проблем со квалитетот.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Изнудата може да дојде и од вработен и од надворешно лице. Секоја форма е кривично дело.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840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Закани за прекин на деловен однос ако не се плати „провизија“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Условување на потпишување договор со лична корист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Притисок да се прифати понуда без тендерска постапка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Барање „подароци“ за нормално извршување на работните задачи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ПРОНЕВЕРА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Проневера е кога лице коему му се доверени средства ги присвојува или користи за лична корист.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37360"/>
            <a:ext cx="54864" cy="13716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Ситуација во набавки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21945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Вработен во набавки нарачува суровини за 100.000 МКД, но на фактурата пишува 120.000 МКД — разликата ја задржува за себе. Или, креира фиктивни набавки од непостоечки добавувачи.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3291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Фалсификување на фактури и сметки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Фиктивни добавувачи или набавки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Присвојување на готовински средства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Злоупотреба на картица за корпоративни набавки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КОНФЛИКТ НА ИНТЕРЕСИ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 на интереси настанува кога личниот интерес на вработениот е во судир со интересите на компанијата.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3931920" cy="22860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37360"/>
            <a:ext cx="39319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Вработен во набавки ја избира фирмата на неговиот брат како добавувач на амбалажа, без да го пријави семејниот однос и без конкурентски понуди.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737360"/>
            <a:ext cx="3931920" cy="22860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737360"/>
            <a:ext cx="39319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22402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Менаџер за набавки има удел во фирма-добавувач и ги насочува сите нарачки кон таа фирма, иако постојат подобри алтернативи.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976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Секогаш пријавете го конфликтот на интереси кај вашиот претпоставен. Транспарентноста е клуч!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ЦРВЕНИ ЗНАМИЊА ВО НАБАВКИТЕ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005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Добавувачот инсистира на плаќање во готовина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132320" y="1078992"/>
            <a:ext cx="1371600" cy="31089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5"/>
          <p:cNvSpPr/>
          <p:nvPr/>
        </p:nvSpPr>
        <p:spPr>
          <a:xfrm>
            <a:off x="7132320" y="10789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Висок ризик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1554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Цените се значително повисоки од пазарните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132320" y="1627632"/>
            <a:ext cx="1371600" cy="31089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9"/>
          <p:cNvSpPr/>
          <p:nvPr/>
        </p:nvSpPr>
        <p:spPr>
          <a:xfrm>
            <a:off x="7132320" y="1627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Висок ризик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2103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 еден добавувач е секогаш избран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132320" y="2176272"/>
            <a:ext cx="1371600" cy="31089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Text 13"/>
          <p:cNvSpPr/>
          <p:nvPr/>
        </p:nvSpPr>
        <p:spPr>
          <a:xfrm>
            <a:off x="7132320" y="21762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Среден ризик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974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Добавувачот нуди скапи подароци или патувања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132320" y="2724912"/>
            <a:ext cx="1371600" cy="31089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4" name="Text 17"/>
          <p:cNvSpPr/>
          <p:nvPr/>
        </p:nvSpPr>
        <p:spPr>
          <a:xfrm>
            <a:off x="7132320" y="27249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Висок ризик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4612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584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Набавките се делат за да се избегне тендер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7132320" y="3273552"/>
            <a:ext cx="1371600" cy="31089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9" name="Text 21"/>
          <p:cNvSpPr/>
          <p:nvPr/>
        </p:nvSpPr>
        <p:spPr>
          <a:xfrm>
            <a:off x="7132320" y="32735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Среден ризик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94760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05840" y="3749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Фактурите не се совпаѓаат со нарачките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7132320" y="3822192"/>
            <a:ext cx="1371600" cy="31089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4" name="Text 25"/>
          <p:cNvSpPr/>
          <p:nvPr/>
        </p:nvSpPr>
        <p:spPr>
          <a:xfrm>
            <a:off x="7132320" y="38221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Висок ризик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343400"/>
            <a:ext cx="320040" cy="32004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005840" y="4297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Вработен одбива ротација или одмор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7132320" y="4370832"/>
            <a:ext cx="1371600" cy="31089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9" name="Text 29"/>
          <p:cNvSpPr/>
          <p:nvPr/>
        </p:nvSpPr>
        <p:spPr>
          <a:xfrm>
            <a:off x="7132320" y="43708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Среден ризик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СИТУАЦИЈА ЗА ДИСКУСИЈА #1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Сценарио: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Вие сте одговорен/а за набавка на пластична амбалажа. Еден добавувач ви праќа „ново-годишен подарок“ — часовник вреден 800 EUR. Истовремено, неговата понуда е за 5% поскапа од конкуренцијата.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Што правите?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74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Размислете: Дали е ова само подарок? Или обид за влијание?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Правилен одговор: Го одбивате подарокот, го пријавувате случајот и продолжувате со објективна евалуација на понудите.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СИТУАЦИЈА ЗА ДИСКУСИЈА #2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Сценарио: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Вашиот колега ви кажува дека „договорил“ со добавувач на шеќер цена која е 15% пониска од пазарната. Но, набавката е направена без барање 3 понуди, и колегата одскоро купи нов автомобил.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Што правите?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74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Размислете: Кои знаци укажуваат на можна корупција?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Правилен одговор: Пријавете ги сомнежите кај одговорното лице. Не ја игнорирајте ситуацијата — тоа ве прави сочесник.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ЗАКОНСКА РАМКА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Кривичен законик на РСМ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74720" y="1097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Чл. 357-359: Примање и давање поткуп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Чл. 353-355: Злоупотреба на службена положба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Казна: до 10 години затвор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54864" cy="1097280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за спречување корупција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Задолжително пријавување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Заштита на укажувачи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Декларирање на имот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Меѓународни стандарди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74720" y="3657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37001 (Анти-корупциски системи)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Global Compact принцип 10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конвенција за корупција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ПОСЛЕДИЦИ ОД КОРУПЦИЈА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ВРАБОТЕНИОТ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Кривична одговорност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Затвор до 10 години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Парична казна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Губење работно место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Уништена кариера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260604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97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КОМПАНИЈАТА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Финансиски казни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Губење лиценци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Забрана на дејност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Штета на репутација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Губење на клиенти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06040" cy="502920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ОПШТЕСТВОТО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7373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Нелојална конкуренција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Повисоки цени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Пониски стандарди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Губење на доверба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Штета за економијата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ПОЛИТИКА ЗА ПОДАРОЦИ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ДОЗВОЛЕНО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Промотивни материјали (пенкала, календари)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Симболични подароци до 1.500 МКД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Деловен ручек во разумни граници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Учество на јавни настани/конференции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515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0352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ЗАБРАНЕТО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3776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Готовина или еквиваленти (ваучери)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Подароци над 1.500 МКД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Скапи вечери, патувања, забави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 за членови на семејството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Било што во замена за деловна одлука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ИНТЕРНИ ПРОЦЕДУРИ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97280"/>
            <a:ext cx="502920" cy="475488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3 понуди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3533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секоја набавка над 30.000 МКД се бараат минимум 3 конкурентски понуди.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874520"/>
            <a:ext cx="502920" cy="475488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8745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Двојно одобрување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21305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Секоја набавка мора да биде одобрена од раководител и финансии.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2651760"/>
            <a:ext cx="502920" cy="475488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5176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Ротација на добавувачи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2907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Редовна ревизија и ротација за да се спречи зависност.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3429000"/>
            <a:ext cx="502920" cy="475488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4290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887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Документација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88720" y="36850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Секоја одлука мора да биде документирана со образложение.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4206240"/>
            <a:ext cx="502920" cy="475488"/>
          </a:xfrm>
          <a:prstGeom prst="rect">
            <a:avLst/>
          </a:prstGeom>
          <a:solidFill>
            <a:srgbClr val="2D6A7A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42062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8872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Декларација за конфликт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88720" y="44622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Годишна декларација за потенцијален конфликт на интереси.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ДОБРИ ПРАКТИКИ ВО НАБАВКИ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Транспарентност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Секоја набавка е видлива и проследлива. Документирајте ги сите чекори.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Објективност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Изборот на добавувач се базира само на квалитет, цена и услови.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Конкуренција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2743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Обезбедете фер натпревар меѓу добавувачите.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286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28600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Контрола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83480" y="2743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Раздвојување на должности: нарачка, прием, плаќање.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Етичност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4023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Однесувајте се професионално и одбијте секоја сомнителна понуда.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566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356616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Комуникација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83480" y="4023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Пријавете секоја сомнителна ситуација — не чекајте да стане проблем.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КАКО ДА ПРИЈАВИТЕ?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Ако забележите корупција или сомнително однесување, имате обврска да пријавите. Заштитата на укажувачите е загарантирана со закон.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8229600" cy="5303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09928"/>
            <a:ext cx="402336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099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6459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Директен претпоставен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0" y="16459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Прво обратете се кај вашиот раководител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350008"/>
            <a:ext cx="402336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350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 за човечки ресурси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89120" y="22860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Доколку претпоставениот е вклучен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8229600" cy="5303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990088"/>
            <a:ext cx="402336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90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97280" y="29260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Генерален директор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89120" y="292608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сериозни случаи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3630168"/>
            <a:ext cx="402336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97280" y="35661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Анонимна линија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389120" y="35661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Доверлива e-mail адреса или кутија за пријави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206240"/>
            <a:ext cx="8229600" cy="5303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4270248"/>
            <a:ext cx="402336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4270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97280" y="42062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Надворешни органи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389120" y="42062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ДКСК, Јавно обвинителство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ЗАШТИТА НА УКАЖУВАЧИ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Законот за заштита на укажувачи гарантира: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Анонимност на пријавата — идентитетот е заштитен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Забрана за одмазда — отказ, деградирање, мобинг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Правна заштита — бесплатна правна помош за укажувачи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Казни за одмазда — оние кои вршат одмазда се казнуваат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Надворешно пријавување — ДКСК, Народен правобранител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Пријавувањето НЕ е предавство — тоа е одговорност и храброст!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A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НАПРАВИ / НЕ ПРАВИ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0F3D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НАПРАВИ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Следи ги интерните процедури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Бирај добавувач по квалитет и цена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Пријави сомнителни ситуации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Документирај ги одлуките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Пријави конфликт на интереси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Побарај помош кога не си сигурен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3D0F0F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 ПРАВИ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прифаќај подароци од добавувачи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криј конфликт на интереси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прескокнувај процедури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фалсификувај документи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игнорирај сомнителни ситуации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се плаши да пријавиш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КЛУЧНИ ПОРАКИ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475488" cy="4754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Корупцијата не е „нормална“ — секоја форма е кривично дело и се казнува.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74520"/>
            <a:ext cx="475488" cy="4754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78308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Вие сте првата линија на одбрана — секторот за набавки е најизложен.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51760"/>
            <a:ext cx="475488" cy="4754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56032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Секогаш следете ги процедурите — 3 понуди, документација, одобрување.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429000"/>
            <a:ext cx="475488" cy="4754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Пријавете секоја сомнителна ситуација — заштитата е загарантирана.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06240"/>
            <a:ext cx="475488" cy="4754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06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Етичкото однесување е наша конкурентска предност на пазарот.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ТЕСТ ЗА ПРОВЕРКА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 ЗНАЕЊЕ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прашања | Потребен минимум: 80% точност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ВИ БЛАГОДАРИМЕ!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Заедно градиме компанија без корупција.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Доколку имате прашања или сомнежи —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чекајте, пријавете!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Обука за спречување на корупција</dc:title>
  <dc:subject>PptxGenJS Presentation</dc:subject>
  <dc:creator>Anti-Corruption Training</dc:creator>
  <cp:lastModifiedBy>Anti-Corruption Training</cp:lastModifiedBy>
  <cp:revision>1</cp:revision>
  <dcterms:created xsi:type="dcterms:W3CDTF">2026-03-06T09:38:19Z</dcterms:created>
  <dcterms:modified xsi:type="dcterms:W3CDTF">2026-03-06T09:38:19Z</dcterms:modified>
</cp:coreProperties>
</file>